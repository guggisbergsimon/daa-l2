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71" d="100"/>
          <a:sy n="71" d="100"/>
        </p:scale>
        <p:origin x="5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958EE1-1A36-EC08-C1D4-1FF3673C7B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/>
              <a:t>NFC – Near Field Communication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03F46AC-3554-6C59-F95D-C67DF6F065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 dirty="0"/>
              <a:t>Patrick </a:t>
            </a:r>
            <a:r>
              <a:rPr lang="fr-CH" dirty="0" err="1"/>
              <a:t>Furrer</a:t>
            </a:r>
            <a:r>
              <a:rPr lang="fr-CH" dirty="0"/>
              <a:t>, Simon Guggisberg &amp; Jonas Troeltsch</a:t>
            </a:r>
          </a:p>
          <a:p>
            <a:r>
              <a:rPr lang="fr-CH" i="1" dirty="0"/>
              <a:t>DAA</a:t>
            </a:r>
          </a:p>
        </p:txBody>
      </p:sp>
    </p:spTree>
    <p:extLst>
      <p:ext uri="{BB962C8B-B14F-4D97-AF65-F5344CB8AC3E}">
        <p14:creationId xmlns:p14="http://schemas.microsoft.com/office/powerpoint/2010/main" val="4096465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67C911-01EE-EF69-606E-487ABA252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Définition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77A170-0128-92DD-621D-A89A5EE54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Connection sans fil &lt;4cm</a:t>
            </a:r>
          </a:p>
          <a:p>
            <a:endParaRPr lang="fr-CH" dirty="0"/>
          </a:p>
          <a:p>
            <a:r>
              <a:rPr lang="fr-CH" dirty="0"/>
              <a:t>Échange de données</a:t>
            </a:r>
          </a:p>
          <a:p>
            <a:endParaRPr lang="fr-CH" dirty="0"/>
          </a:p>
          <a:p>
            <a:r>
              <a:rPr lang="fr-CH" dirty="0"/>
              <a:t>Chargement de batterie</a:t>
            </a: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062825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30E30F-67C2-78CC-FFF8-CCC49AAEC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NFC Tag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636C80-5631-6AF9-DBD8-AE14964BF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/>
              <a:t>Format NDEF </a:t>
            </a:r>
            <a:r>
              <a:rPr lang="fr-CH" b="1"/>
              <a:t>: </a:t>
            </a:r>
            <a:r>
              <a:rPr lang="fr-CH"/>
              <a:t>MIME type</a:t>
            </a:r>
          </a:p>
          <a:p>
            <a:endParaRPr lang="fr-CH"/>
          </a:p>
          <a:p>
            <a:r>
              <a:rPr lang="fr-CH"/>
              <a:t>Simple : Read/Write</a:t>
            </a:r>
          </a:p>
          <a:p>
            <a:endParaRPr lang="fr-CH"/>
          </a:p>
          <a:p>
            <a:r>
              <a:rPr lang="fr-CH"/>
              <a:t>Avancé : crypto, maths, code, …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733278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54291C-E634-B364-A7A2-8423956DE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Host </a:t>
            </a:r>
            <a:r>
              <a:rPr lang="fr-CH" dirty="0" err="1"/>
              <a:t>Card</a:t>
            </a:r>
            <a:r>
              <a:rPr lang="fr-CH" dirty="0"/>
              <a:t> Emulation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7D04DD-F2AE-BA86-F642-619AE476F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Par élément sécurisé</a:t>
            </a:r>
          </a:p>
          <a:p>
            <a:pPr lvl="1"/>
            <a:r>
              <a:rPr lang="fr-CH" dirty="0"/>
              <a:t>Matériel dédié</a:t>
            </a:r>
          </a:p>
          <a:p>
            <a:endParaRPr lang="fr-CH" dirty="0"/>
          </a:p>
          <a:p>
            <a:r>
              <a:rPr lang="fr-CH" dirty="0"/>
              <a:t>Par software</a:t>
            </a:r>
          </a:p>
          <a:p>
            <a:pPr lvl="1"/>
            <a:r>
              <a:rPr lang="fr-CH" dirty="0"/>
              <a:t>Android </a:t>
            </a:r>
            <a:r>
              <a:rPr lang="fr-CH" dirty="0" err="1"/>
              <a:t>Sandbox</a:t>
            </a:r>
            <a:endParaRPr lang="fr-CH" dirty="0"/>
          </a:p>
          <a:p>
            <a:pPr lvl="1"/>
            <a:r>
              <a:rPr lang="fr-CH" dirty="0"/>
              <a:t>Peut tourner en background</a:t>
            </a:r>
          </a:p>
        </p:txBody>
      </p:sp>
    </p:spTree>
    <p:extLst>
      <p:ext uri="{BB962C8B-B14F-4D97-AF65-F5344CB8AC3E}">
        <p14:creationId xmlns:p14="http://schemas.microsoft.com/office/powerpoint/2010/main" val="2999328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17C4610E-9C18-467B-BF10-BE6A974CC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69" name="Freeform 5">
              <a:extLst>
                <a:ext uri="{FF2B5EF4-FFF2-40B4-BE49-F238E27FC236}">
                  <a16:creationId xmlns:a16="http://schemas.microsoft.com/office/drawing/2014/main" id="{296DF307-344E-4E9B-A7AA-8139E450D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70" name="Freeform 6">
              <a:extLst>
                <a:ext uri="{FF2B5EF4-FFF2-40B4-BE49-F238E27FC236}">
                  <a16:creationId xmlns:a16="http://schemas.microsoft.com/office/drawing/2014/main" id="{E263CC2D-ACFB-4EB3-ADF9-CD82BC842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71" name="Freeform 7">
              <a:extLst>
                <a:ext uri="{FF2B5EF4-FFF2-40B4-BE49-F238E27FC236}">
                  <a16:creationId xmlns:a16="http://schemas.microsoft.com/office/drawing/2014/main" id="{C5366E2F-9BA0-485A-B1CA-A5E6E2E37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72" name="Freeform 8">
              <a:extLst>
                <a:ext uri="{FF2B5EF4-FFF2-40B4-BE49-F238E27FC236}">
                  <a16:creationId xmlns:a16="http://schemas.microsoft.com/office/drawing/2014/main" id="{1803051E-7C26-4F53-8293-B4EAED4212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73" name="Freeform 9">
              <a:extLst>
                <a:ext uri="{FF2B5EF4-FFF2-40B4-BE49-F238E27FC236}">
                  <a16:creationId xmlns:a16="http://schemas.microsoft.com/office/drawing/2014/main" id="{D10888CD-E496-4116-9C45-CF4F17ADE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0A42DA8F-DA3D-43E9-A184-E0F6C133A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473EAD31-7AA3-49B7-ADD6-C13FF0F14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76" name="Freeform 12">
              <a:extLst>
                <a:ext uri="{FF2B5EF4-FFF2-40B4-BE49-F238E27FC236}">
                  <a16:creationId xmlns:a16="http://schemas.microsoft.com/office/drawing/2014/main" id="{2BBB7CDF-BA2E-451F-9201-CF2B6FEAE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77" name="Freeform 13">
              <a:extLst>
                <a:ext uri="{FF2B5EF4-FFF2-40B4-BE49-F238E27FC236}">
                  <a16:creationId xmlns:a16="http://schemas.microsoft.com/office/drawing/2014/main" id="{84809EF2-CD0D-4BC3-ABC7-E7E312A1D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78" name="Freeform 14">
              <a:extLst>
                <a:ext uri="{FF2B5EF4-FFF2-40B4-BE49-F238E27FC236}">
                  <a16:creationId xmlns:a16="http://schemas.microsoft.com/office/drawing/2014/main" id="{11D2D6C5-637B-4AFE-97F4-D4E48A613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79" name="Freeform 15">
              <a:extLst>
                <a:ext uri="{FF2B5EF4-FFF2-40B4-BE49-F238E27FC236}">
                  <a16:creationId xmlns:a16="http://schemas.microsoft.com/office/drawing/2014/main" id="{F841B2C5-57F5-4FE6-B4D4-EBB3F30881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80" name="Freeform 16">
              <a:extLst>
                <a:ext uri="{FF2B5EF4-FFF2-40B4-BE49-F238E27FC236}">
                  <a16:creationId xmlns:a16="http://schemas.microsoft.com/office/drawing/2014/main" id="{B4822A39-2A52-4B2C-9319-BEFC526DB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81" name="Freeform 17">
              <a:extLst>
                <a:ext uri="{FF2B5EF4-FFF2-40B4-BE49-F238E27FC236}">
                  <a16:creationId xmlns:a16="http://schemas.microsoft.com/office/drawing/2014/main" id="{4E469692-E783-4950-8DEC-3A1FD3978B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82" name="Freeform 18">
              <a:extLst>
                <a:ext uri="{FF2B5EF4-FFF2-40B4-BE49-F238E27FC236}">
                  <a16:creationId xmlns:a16="http://schemas.microsoft.com/office/drawing/2014/main" id="{012909CD-3254-41E5-B8BB-0F2D7CE0D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83" name="Freeform 19">
              <a:extLst>
                <a:ext uri="{FF2B5EF4-FFF2-40B4-BE49-F238E27FC236}">
                  <a16:creationId xmlns:a16="http://schemas.microsoft.com/office/drawing/2014/main" id="{93E7648E-861E-4503-AEDC-56C4EC507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84" name="Freeform 20">
              <a:extLst>
                <a:ext uri="{FF2B5EF4-FFF2-40B4-BE49-F238E27FC236}">
                  <a16:creationId xmlns:a16="http://schemas.microsoft.com/office/drawing/2014/main" id="{F9C72257-EBD0-4D1C-A32C-D84644687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85" name="Freeform 21">
              <a:extLst>
                <a:ext uri="{FF2B5EF4-FFF2-40B4-BE49-F238E27FC236}">
                  <a16:creationId xmlns:a16="http://schemas.microsoft.com/office/drawing/2014/main" id="{87BB2CBB-9C22-4E28-AB86-DC92AEE2D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86" name="Freeform 22">
              <a:extLst>
                <a:ext uri="{FF2B5EF4-FFF2-40B4-BE49-F238E27FC236}">
                  <a16:creationId xmlns:a16="http://schemas.microsoft.com/office/drawing/2014/main" id="{F85B3053-8D9F-410A-80C2-7960DDEA6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87" name="Freeform 23">
              <a:extLst>
                <a:ext uri="{FF2B5EF4-FFF2-40B4-BE49-F238E27FC236}">
                  <a16:creationId xmlns:a16="http://schemas.microsoft.com/office/drawing/2014/main" id="{E8FF5DA7-6E72-41F1-A54C-EAF440A27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899734C-500F-4274-9854-8BFA14A1D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F07BF51-2934-47AD-A415-7400882F14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  <p:sp>
          <p:nvSpPr>
            <p:cNvPr id="91" name="Isosceles Triangle 90">
              <a:extLst>
                <a:ext uri="{FF2B5EF4-FFF2-40B4-BE49-F238E27FC236}">
                  <a16:creationId xmlns:a16="http://schemas.microsoft.com/office/drawing/2014/main" id="{DD6E3DF0-EDC0-458B-9C5B-911814F0A6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5D0824B1-47C9-4504-99FB-CB1505197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</p:grpSp>
      <p:sp>
        <p:nvSpPr>
          <p:cNvPr id="94" name="Rectangle 93">
            <a:extLst>
              <a:ext uri="{FF2B5EF4-FFF2-40B4-BE49-F238E27FC236}">
                <a16:creationId xmlns:a16="http://schemas.microsoft.com/office/drawing/2014/main" id="{A3BAF07C-C39E-42EB-BB22-8D46691D9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3061" cy="68692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8E9CF54-0466-4261-9E62-0249E60E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7" name="Freeform 5">
              <a:extLst>
                <a:ext uri="{FF2B5EF4-FFF2-40B4-BE49-F238E27FC236}">
                  <a16:creationId xmlns:a16="http://schemas.microsoft.com/office/drawing/2014/main" id="{33E32106-E8B1-4F76-9EE6-58537738A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98" name="Freeform 6">
              <a:extLst>
                <a:ext uri="{FF2B5EF4-FFF2-40B4-BE49-F238E27FC236}">
                  <a16:creationId xmlns:a16="http://schemas.microsoft.com/office/drawing/2014/main" id="{C32C2C46-A045-44FB-8A74-5EBD650C2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99" name="Freeform 7">
              <a:extLst>
                <a:ext uri="{FF2B5EF4-FFF2-40B4-BE49-F238E27FC236}">
                  <a16:creationId xmlns:a16="http://schemas.microsoft.com/office/drawing/2014/main" id="{6A76F79C-6683-4940-BCF7-4BCCCEE40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0" name="Freeform 8">
              <a:extLst>
                <a:ext uri="{FF2B5EF4-FFF2-40B4-BE49-F238E27FC236}">
                  <a16:creationId xmlns:a16="http://schemas.microsoft.com/office/drawing/2014/main" id="{FF4675A3-6D07-4B1F-9BFC-AEBEA1AD0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1" name="Freeform 9">
              <a:extLst>
                <a:ext uri="{FF2B5EF4-FFF2-40B4-BE49-F238E27FC236}">
                  <a16:creationId xmlns:a16="http://schemas.microsoft.com/office/drawing/2014/main" id="{765E127A-B6B7-4B1D-B7BD-6C8C969D2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2" name="Freeform 10">
              <a:extLst>
                <a:ext uri="{FF2B5EF4-FFF2-40B4-BE49-F238E27FC236}">
                  <a16:creationId xmlns:a16="http://schemas.microsoft.com/office/drawing/2014/main" id="{3BCA9D9E-C72C-4751-BFA9-10B85CACE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3" name="Freeform 11">
              <a:extLst>
                <a:ext uri="{FF2B5EF4-FFF2-40B4-BE49-F238E27FC236}">
                  <a16:creationId xmlns:a16="http://schemas.microsoft.com/office/drawing/2014/main" id="{080C708C-69BF-441B-AB75-C98160ED0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4" name="Freeform 12">
              <a:extLst>
                <a:ext uri="{FF2B5EF4-FFF2-40B4-BE49-F238E27FC236}">
                  <a16:creationId xmlns:a16="http://schemas.microsoft.com/office/drawing/2014/main" id="{3E79964E-F8F1-4763-8892-7BC3DAE30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5" name="Freeform 13">
              <a:extLst>
                <a:ext uri="{FF2B5EF4-FFF2-40B4-BE49-F238E27FC236}">
                  <a16:creationId xmlns:a16="http://schemas.microsoft.com/office/drawing/2014/main" id="{FE09592A-FCC9-4AE5-BA0B-730C6F3BB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6" name="Freeform 14">
              <a:extLst>
                <a:ext uri="{FF2B5EF4-FFF2-40B4-BE49-F238E27FC236}">
                  <a16:creationId xmlns:a16="http://schemas.microsoft.com/office/drawing/2014/main" id="{96448994-820C-4BC1-ABF3-4579C6F99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7" name="Freeform 15">
              <a:extLst>
                <a:ext uri="{FF2B5EF4-FFF2-40B4-BE49-F238E27FC236}">
                  <a16:creationId xmlns:a16="http://schemas.microsoft.com/office/drawing/2014/main" id="{9BB0D192-565A-42B9-B292-CC032D71A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8" name="Freeform 16">
              <a:extLst>
                <a:ext uri="{FF2B5EF4-FFF2-40B4-BE49-F238E27FC236}">
                  <a16:creationId xmlns:a16="http://schemas.microsoft.com/office/drawing/2014/main" id="{6D1CA09C-5F40-4E92-A7E9-D1FCEE512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9" name="Freeform 17">
              <a:extLst>
                <a:ext uri="{FF2B5EF4-FFF2-40B4-BE49-F238E27FC236}">
                  <a16:creationId xmlns:a16="http://schemas.microsoft.com/office/drawing/2014/main" id="{379F5AA5-2E14-4880-A5A6-07AEF2AD8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10" name="Freeform 18">
              <a:extLst>
                <a:ext uri="{FF2B5EF4-FFF2-40B4-BE49-F238E27FC236}">
                  <a16:creationId xmlns:a16="http://schemas.microsoft.com/office/drawing/2014/main" id="{EF14BD32-D239-4DA3-98B3-775207365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11" name="Freeform 19">
              <a:extLst>
                <a:ext uri="{FF2B5EF4-FFF2-40B4-BE49-F238E27FC236}">
                  <a16:creationId xmlns:a16="http://schemas.microsoft.com/office/drawing/2014/main" id="{CF07B250-E5E4-4624-9BD7-8D513A67B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12" name="Freeform 20">
              <a:extLst>
                <a:ext uri="{FF2B5EF4-FFF2-40B4-BE49-F238E27FC236}">
                  <a16:creationId xmlns:a16="http://schemas.microsoft.com/office/drawing/2014/main" id="{BCC5D120-7C8C-4290-865C-4EE6E4F24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13" name="Freeform 21">
              <a:extLst>
                <a:ext uri="{FF2B5EF4-FFF2-40B4-BE49-F238E27FC236}">
                  <a16:creationId xmlns:a16="http://schemas.microsoft.com/office/drawing/2014/main" id="{C24688C6-CAE5-4EF2-B2BA-A138DA0A2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14" name="Freeform 22">
              <a:extLst>
                <a:ext uri="{FF2B5EF4-FFF2-40B4-BE49-F238E27FC236}">
                  <a16:creationId xmlns:a16="http://schemas.microsoft.com/office/drawing/2014/main" id="{6BD31099-7C13-4901-A04F-632B1CD84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15" name="Freeform 23">
              <a:extLst>
                <a:ext uri="{FF2B5EF4-FFF2-40B4-BE49-F238E27FC236}">
                  <a16:creationId xmlns:a16="http://schemas.microsoft.com/office/drawing/2014/main" id="{679F5FF7-82B2-4033-8FBE-63170C937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3ADD4C32-9E68-5748-0C5F-36956E8AF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425" y="5199797"/>
            <a:ext cx="9435152" cy="789673"/>
          </a:xfrm>
        </p:spPr>
        <p:txBody>
          <a:bodyPr vert="horz" lIns="228600" tIns="228600" rIns="228600" bIns="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dirty="0">
                <a:solidFill>
                  <a:schemeClr val="bg1"/>
                </a:solidFill>
              </a:rPr>
              <a:t>Tag Dispatch System</a:t>
            </a:r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A7795DFA-888F-47E2-B44E-DE1D3B3E4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5058957"/>
          </a:xfrm>
          <a:custGeom>
            <a:avLst/>
            <a:gdLst>
              <a:gd name="connsiteX0" fmla="*/ 0 w 12192000"/>
              <a:gd name="connsiteY0" fmla="*/ 0 h 5058957"/>
              <a:gd name="connsiteX1" fmla="*/ 12192000 w 12192000"/>
              <a:gd name="connsiteY1" fmla="*/ 0 h 5058957"/>
              <a:gd name="connsiteX2" fmla="*/ 12192000 w 12192000"/>
              <a:gd name="connsiteY2" fmla="*/ 259692 h 5058957"/>
              <a:gd name="connsiteX3" fmla="*/ 12192000 w 12192000"/>
              <a:gd name="connsiteY3" fmla="*/ 3542069 h 5058957"/>
              <a:gd name="connsiteX4" fmla="*/ 12192000 w 12192000"/>
              <a:gd name="connsiteY4" fmla="*/ 3734194 h 5058957"/>
              <a:gd name="connsiteX5" fmla="*/ 12192000 w 12192000"/>
              <a:gd name="connsiteY5" fmla="*/ 4710012 h 5058957"/>
              <a:gd name="connsiteX6" fmla="*/ 12113803 w 12192000"/>
              <a:gd name="connsiteY6" fmla="*/ 4718295 h 5058957"/>
              <a:gd name="connsiteX7" fmla="*/ 6753597 w 12192000"/>
              <a:gd name="connsiteY7" fmla="*/ 5041852 h 5058957"/>
              <a:gd name="connsiteX8" fmla="*/ 400746 w 12192000"/>
              <a:gd name="connsiteY8" fmla="*/ 4870509 h 5058957"/>
              <a:gd name="connsiteX9" fmla="*/ 0 w 12192000"/>
              <a:gd name="connsiteY9" fmla="*/ 4833533 h 5058957"/>
              <a:gd name="connsiteX10" fmla="*/ 0 w 12192000"/>
              <a:gd name="connsiteY10" fmla="*/ 3734194 h 5058957"/>
              <a:gd name="connsiteX11" fmla="*/ 0 w 12192000"/>
              <a:gd name="connsiteY11" fmla="*/ 3542069 h 5058957"/>
              <a:gd name="connsiteX12" fmla="*/ 0 w 12192000"/>
              <a:gd name="connsiteY12" fmla="*/ 259692 h 5058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5058957">
                <a:moveTo>
                  <a:pt x="0" y="0"/>
                </a:moveTo>
                <a:lnTo>
                  <a:pt x="12192000" y="0"/>
                </a:lnTo>
                <a:lnTo>
                  <a:pt x="12192000" y="259692"/>
                </a:lnTo>
                <a:lnTo>
                  <a:pt x="12192000" y="3542069"/>
                </a:lnTo>
                <a:lnTo>
                  <a:pt x="12192000" y="3734194"/>
                </a:lnTo>
                <a:lnTo>
                  <a:pt x="12192000" y="4710012"/>
                </a:lnTo>
                <a:lnTo>
                  <a:pt x="12113803" y="4718295"/>
                </a:lnTo>
                <a:cubicBezTo>
                  <a:pt x="10139508" y="4916244"/>
                  <a:pt x="8237152" y="5009247"/>
                  <a:pt x="6753597" y="5041852"/>
                </a:cubicBezTo>
                <a:cubicBezTo>
                  <a:pt x="4940362" y="5081701"/>
                  <a:pt x="2657278" y="5062371"/>
                  <a:pt x="400746" y="4870509"/>
                </a:cubicBezTo>
                <a:lnTo>
                  <a:pt x="0" y="4833533"/>
                </a:lnTo>
                <a:lnTo>
                  <a:pt x="0" y="3734194"/>
                </a:lnTo>
                <a:lnTo>
                  <a:pt x="0" y="3542069"/>
                </a:lnTo>
                <a:lnTo>
                  <a:pt x="0" y="259692"/>
                </a:lnTo>
                <a:close/>
              </a:path>
            </a:pathLst>
          </a:custGeom>
          <a:solidFill>
            <a:schemeClr val="bg1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4A58661-A60D-B044-4711-91737A60F1F9}"/>
              </a:ext>
            </a:extLst>
          </p:cNvPr>
          <p:cNvSpPr txBox="1"/>
          <p:nvPr/>
        </p:nvSpPr>
        <p:spPr>
          <a:xfrm>
            <a:off x="1759237" y="6003836"/>
            <a:ext cx="8673427" cy="405405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/>
          <a:p>
            <a:pPr algn="ctr" defTabSz="914400">
              <a:spcBef>
                <a:spcPts val="1000"/>
              </a:spcBef>
              <a:buClr>
                <a:schemeClr val="accent1"/>
              </a:buClr>
              <a:buSzPct val="110000"/>
            </a:pPr>
            <a:r>
              <a:rPr lang="en-US" sz="1600">
                <a:solidFill>
                  <a:schemeClr val="bg1"/>
                </a:solidFill>
              </a:rPr>
              <a:t>Et Foreground Dispatch System</a:t>
            </a:r>
          </a:p>
        </p:txBody>
      </p:sp>
      <p:pic>
        <p:nvPicPr>
          <p:cNvPr id="9" name="Espace réservé du contenu 8" descr="Une image contenant texte, capture d’écran, Police, Rectangle&#10;&#10;Description générée automatiquement">
            <a:extLst>
              <a:ext uri="{FF2B5EF4-FFF2-40B4-BE49-F238E27FC236}">
                <a16:creationId xmlns:a16="http://schemas.microsoft.com/office/drawing/2014/main" id="{6783FA02-B9C1-3E8E-3277-4A93D3FD7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6220" y="257235"/>
            <a:ext cx="10197226" cy="474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900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7C4610E-9C18-467B-BF10-BE6A974CC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296DF307-344E-4E9B-A7AA-8139E450D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E263CC2D-ACFB-4EB3-ADF9-CD82BC842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5366E2F-9BA0-485A-B1CA-A5E6E2E37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1803051E-7C26-4F53-8293-B4EAED4212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D10888CD-E496-4116-9C45-CF4F17ADE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0A42DA8F-DA3D-43E9-A184-E0F6C133A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473EAD31-7AA3-49B7-ADD6-C13FF0F14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2BBB7CDF-BA2E-451F-9201-CF2B6FEAE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84809EF2-CD0D-4BC3-ABC7-E7E312A1D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11D2D6C5-637B-4AFE-97F4-D4E48A613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F841B2C5-57F5-4FE6-B4D4-EBB3F30881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B4822A39-2A52-4B2C-9319-BEFC526DB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4E469692-E783-4950-8DEC-3A1FD3978B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012909CD-3254-41E5-B8BB-0F2D7CE0D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93E7648E-861E-4503-AEDC-56C4EC507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9C72257-EBD0-4D1C-A32C-D84644687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87BB2CBB-9C22-4E28-AB86-DC92AEE2D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85B3053-8D9F-410A-80C2-7960DDEA6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E8FF5DA7-6E72-41F1-A54C-EAF440A27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899734C-500F-4274-9854-8BFA14A1D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F07BF51-2934-47AD-A415-7400882F14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DD6E3DF0-EDC0-458B-9C5B-911814F0A6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D0824B1-47C9-4504-99FB-CB1505197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</p:grp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34DD805B-2A7B-4ADA-9C4D-E0C9F192D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664A566-6D08-4E84-9708-4916A2001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871B622B-6E58-4933-88EC-99F28705F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>
                <a:gd name="T0" fmla="*/ 1752 w 2038"/>
                <a:gd name="T1" fmla="*/ 1169 h 1169"/>
                <a:gd name="T2" fmla="*/ 1487 w 2038"/>
                <a:gd name="T3" fmla="*/ 334 h 1169"/>
                <a:gd name="T4" fmla="*/ 860 w 2038"/>
                <a:gd name="T5" fmla="*/ 22 h 1169"/>
                <a:gd name="T6" fmla="*/ 199 w 2038"/>
                <a:gd name="T7" fmla="*/ 318 h 1169"/>
                <a:gd name="T8" fmla="*/ 399 w 2038"/>
                <a:gd name="T9" fmla="*/ 1165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EE9A4681-AC1B-4ABC-9A1C-C7E7F08A0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>
                <a:gd name="T0" fmla="*/ 1025 w 1549"/>
                <a:gd name="T1" fmla="*/ 1016 h 1017"/>
                <a:gd name="T2" fmla="*/ 1443 w 1549"/>
                <a:gd name="T3" fmla="*/ 592 h 1017"/>
                <a:gd name="T4" fmla="*/ 782 w 1549"/>
                <a:gd name="T5" fmla="*/ 53 h 1017"/>
                <a:gd name="T6" fmla="*/ 150 w 1549"/>
                <a:gd name="T7" fmla="*/ 329 h 1017"/>
                <a:gd name="T8" fmla="*/ 477 w 1549"/>
                <a:gd name="T9" fmla="*/ 101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F1EEAF4B-DA1A-4CC9-9CE4-587A9E2E1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>
                <a:gd name="T0" fmla="*/ 1302 w 1688"/>
                <a:gd name="T1" fmla="*/ 1066 h 1066"/>
                <a:gd name="T2" fmla="*/ 1613 w 1688"/>
                <a:gd name="T3" fmla="*/ 850 h 1066"/>
                <a:gd name="T4" fmla="*/ 1517 w 1688"/>
                <a:gd name="T5" fmla="*/ 471 h 1066"/>
                <a:gd name="T6" fmla="*/ 798 w 1688"/>
                <a:gd name="T7" fmla="*/ 28 h 1066"/>
                <a:gd name="T8" fmla="*/ 181 w 1688"/>
                <a:gd name="T9" fmla="*/ 333 h 1066"/>
                <a:gd name="T10" fmla="*/ 420 w 1688"/>
                <a:gd name="T11" fmla="*/ 1066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4591EF24-12A6-499B-8074-7E3DFBE6E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>
                <a:gd name="T0" fmla="*/ 1873 w 2171"/>
                <a:gd name="T1" fmla="*/ 1326 h 1326"/>
                <a:gd name="T2" fmla="*/ 1609 w 2171"/>
                <a:gd name="T3" fmla="*/ 473 h 1326"/>
                <a:gd name="T4" fmla="*/ 880 w 2171"/>
                <a:gd name="T5" fmla="*/ 63 h 1326"/>
                <a:gd name="T6" fmla="*/ 0 w 2171"/>
                <a:gd name="T7" fmla="*/ 423 h 1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66866784-2E4F-4C28-BE67-875B71B7C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>
                <a:gd name="T0" fmla="*/ 0 w 106"/>
                <a:gd name="T1" fmla="*/ 0 h 143"/>
                <a:gd name="T2" fmla="*/ 106 w 106"/>
                <a:gd name="T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752279D8-59CC-4821-B591-79994164F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>
                <a:gd name="T0" fmla="*/ 2046 w 2330"/>
                <a:gd name="T1" fmla="*/ 1452 h 1452"/>
                <a:gd name="T2" fmla="*/ 1813 w 2330"/>
                <a:gd name="T3" fmla="*/ 601 h 1452"/>
                <a:gd name="T4" fmla="*/ 956 w 2330"/>
                <a:gd name="T5" fmla="*/ 97 h 1452"/>
                <a:gd name="T6" fmla="*/ 0 w 2330"/>
                <a:gd name="T7" fmla="*/ 366 h 1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FB4FBA9C-1D3E-4B35-8A79-25478153F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>
                <a:gd name="T0" fmla="*/ 1094 w 1216"/>
                <a:gd name="T1" fmla="*/ 1436 h 1436"/>
                <a:gd name="T2" fmla="*/ 709 w 1216"/>
                <a:gd name="T3" fmla="*/ 551 h 1436"/>
                <a:gd name="T4" fmla="*/ 0 w 1216"/>
                <a:gd name="T5" fmla="*/ 0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9428A193-740A-43D2-B875-80CB90AD9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>
                <a:gd name="T0" fmla="*/ 222 w 222"/>
                <a:gd name="T1" fmla="*/ 0 h 129"/>
                <a:gd name="T2" fmla="*/ 0 w 222"/>
                <a:gd name="T3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92B2EFF8-5790-427A-ABED-1680FD133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>
                <a:gd name="T0" fmla="*/ 1067 w 1174"/>
                <a:gd name="T1" fmla="*/ 1440 h 1440"/>
                <a:gd name="T2" fmla="*/ 698 w 1174"/>
                <a:gd name="T3" fmla="*/ 577 h 1440"/>
                <a:gd name="T4" fmla="*/ 0 w 1174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782C5932-1596-43AA-BD7E-0F94FB8A9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>
                <a:gd name="T0" fmla="*/ 125 w 125"/>
                <a:gd name="T1" fmla="*/ 0 h 74"/>
                <a:gd name="T2" fmla="*/ 0 w 125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EFC81310-1590-4DBE-BF0B-DADBCF9F88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>
                <a:gd name="T0" fmla="*/ 1056 w 1155"/>
                <a:gd name="T1" fmla="*/ 1440 h 1440"/>
                <a:gd name="T2" fmla="*/ 686 w 1155"/>
                <a:gd name="T3" fmla="*/ 580 h 1440"/>
                <a:gd name="T4" fmla="*/ 0 w 1155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968BA84E-DD0E-4FCD-8EDA-76DF8E09F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>
                <a:gd name="T0" fmla="*/ 75 w 75"/>
                <a:gd name="T1" fmla="*/ 0 h 45"/>
                <a:gd name="T2" fmla="*/ 0 w 75"/>
                <a:gd name="T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1D3D7541-A0D9-4993-B691-D2D5B8B3E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>
                <a:gd name="T0" fmla="*/ 1053 w 1160"/>
                <a:gd name="T1" fmla="*/ 1441 h 1441"/>
                <a:gd name="T2" fmla="*/ 705 w 1160"/>
                <a:gd name="T3" fmla="*/ 599 h 1441"/>
                <a:gd name="T4" fmla="*/ 0 w 1160"/>
                <a:gd name="T5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9FB31D01-8168-4494-8C2F-727E555A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>
                <a:gd name="T0" fmla="*/ 1040 w 1137"/>
                <a:gd name="T1" fmla="*/ 1440 h 1440"/>
                <a:gd name="T2" fmla="*/ 698 w 1137"/>
                <a:gd name="T3" fmla="*/ 611 h 1440"/>
                <a:gd name="T4" fmla="*/ 0 w 1137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8C455EEB-FD40-414D-A542-FB35DEB73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>
                <a:gd name="T0" fmla="*/ 1011 w 1058"/>
                <a:gd name="T1" fmla="*/ 1439 h 1439"/>
                <a:gd name="T2" fmla="*/ 648 w 1058"/>
                <a:gd name="T3" fmla="*/ 617 h 1439"/>
                <a:gd name="T4" fmla="*/ 0 w 1058"/>
                <a:gd name="T5" fmla="*/ 0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F08F1FC1-956F-4494-BAFD-D504E9307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>
                <a:gd name="T0" fmla="*/ 718 w 718"/>
                <a:gd name="T1" fmla="*/ 575 h 575"/>
                <a:gd name="T2" fmla="*/ 0 w 718"/>
                <a:gd name="T3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BEEDE1AA-8DCD-43D3-BC15-574840314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>
                <a:gd name="T0" fmla="*/ 620 w 620"/>
                <a:gd name="T1" fmla="*/ 536 h 536"/>
                <a:gd name="T2" fmla="*/ 0 w 620"/>
                <a:gd name="T3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E36CDA69-ED79-4DCF-9761-0B6134FA6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>
                <a:gd name="T0" fmla="*/ 0 w 455"/>
                <a:gd name="T1" fmla="*/ 0 h 285"/>
                <a:gd name="T2" fmla="*/ 455 w 455"/>
                <a:gd name="T3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5F812C02-CFCB-47F4-B493-7753519FCA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>
                <a:gd name="T0" fmla="*/ 0 w 188"/>
                <a:gd name="T1" fmla="*/ 0 h 112"/>
                <a:gd name="T2" fmla="*/ 188 w 188"/>
                <a:gd name="T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83678BA-0A50-4D51-9E9E-08BB66F83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7084" y="1186483"/>
            <a:ext cx="3822597" cy="4477933"/>
            <a:chOff x="807084" y="1186483"/>
            <a:chExt cx="3822597" cy="4477933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1A8F65D-5E8F-4CA5-9240-1357120F9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7531" y="1186483"/>
              <a:ext cx="3821702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Isosceles Triangle 39">
              <a:extLst>
                <a:ext uri="{FF2B5EF4-FFF2-40B4-BE49-F238E27FC236}">
                  <a16:creationId xmlns:a16="http://schemas.microsoft.com/office/drawing/2014/main" id="{2A4731E5-DE5F-4215-9525-99426B390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514766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478866D-C5E9-4968-BEF7-B1F030808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7084" y="1991156"/>
              <a:ext cx="382259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56582DA3-D0A4-34B4-31B2-581D89D40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415" y="2075504"/>
            <a:ext cx="3654569" cy="2042725"/>
          </a:xfrm>
        </p:spPr>
        <p:txBody>
          <a:bodyPr vert="horz" lIns="228600" tIns="228600" rIns="228600" bIns="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5400" dirty="0"/>
              <a:t>Questions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BF6EDB4-B4ED-4900-9E38-A7AE0EEEE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0150" y="-6706"/>
            <a:ext cx="6751849" cy="68711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Question mark">
            <a:extLst>
              <a:ext uri="{FF2B5EF4-FFF2-40B4-BE49-F238E27FC236}">
                <a16:creationId xmlns:a16="http://schemas.microsoft.com/office/drawing/2014/main" id="{81315A4B-8B32-CBA8-9646-55E6137F9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7262" y="373413"/>
            <a:ext cx="6120318" cy="6120318"/>
          </a:xfrm>
          <a:prstGeom prst="rect">
            <a:avLst/>
          </a:prstGeom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458968791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Vert jaun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{0433DCBE-D49D-44EB-A267-2921CEFCDA2A}tf16401371</Template>
  <TotalTime>22</TotalTime>
  <Words>71</Words>
  <Application>Microsoft Office PowerPoint</Application>
  <PresentationFormat>Grand écran</PresentationFormat>
  <Paragraphs>25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Calibri Light</vt:lpstr>
      <vt:lpstr>Rockwell</vt:lpstr>
      <vt:lpstr>Wingdings</vt:lpstr>
      <vt:lpstr>Atlas</vt:lpstr>
      <vt:lpstr>NFC – Near Field Communication</vt:lpstr>
      <vt:lpstr>Définition</vt:lpstr>
      <vt:lpstr>NFC Tag</vt:lpstr>
      <vt:lpstr>Host Card Emulation</vt:lpstr>
      <vt:lpstr>Tag Dispatch System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Guggisberg Simon</dc:creator>
  <cp:lastModifiedBy>Guggisberg Simon</cp:lastModifiedBy>
  <cp:revision>2</cp:revision>
  <dcterms:created xsi:type="dcterms:W3CDTF">2025-01-21T14:38:06Z</dcterms:created>
  <dcterms:modified xsi:type="dcterms:W3CDTF">2025-01-21T15:02:55Z</dcterms:modified>
</cp:coreProperties>
</file>